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7"/>
  </p:notesMasterIdLst>
  <p:handoutMasterIdLst>
    <p:handoutMasterId r:id="rId28"/>
  </p:handoutMasterIdLst>
  <p:sldIdLst>
    <p:sldId id="256" r:id="rId2"/>
    <p:sldId id="525" r:id="rId3"/>
    <p:sldId id="526" r:id="rId4"/>
    <p:sldId id="545" r:id="rId5"/>
    <p:sldId id="532" r:id="rId6"/>
    <p:sldId id="546" r:id="rId7"/>
    <p:sldId id="527" r:id="rId8"/>
    <p:sldId id="528" r:id="rId9"/>
    <p:sldId id="542" r:id="rId10"/>
    <p:sldId id="543" r:id="rId11"/>
    <p:sldId id="533" r:id="rId12"/>
    <p:sldId id="534" r:id="rId13"/>
    <p:sldId id="535" r:id="rId14"/>
    <p:sldId id="536" r:id="rId15"/>
    <p:sldId id="537" r:id="rId16"/>
    <p:sldId id="538" r:id="rId17"/>
    <p:sldId id="539" r:id="rId18"/>
    <p:sldId id="540" r:id="rId19"/>
    <p:sldId id="529" r:id="rId20"/>
    <p:sldId id="547" r:id="rId21"/>
    <p:sldId id="530" r:id="rId22"/>
    <p:sldId id="549" r:id="rId23"/>
    <p:sldId id="531" r:id="rId24"/>
    <p:sldId id="548" r:id="rId25"/>
    <p:sldId id="544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00FF"/>
    <a:srgbClr val="660066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014" autoAdjust="0"/>
    <p:restoredTop sz="94624" autoAdjust="0"/>
  </p:normalViewPr>
  <p:slideViewPr>
    <p:cSldViewPr>
      <p:cViewPr varScale="1">
        <p:scale>
          <a:sx n="90" d="100"/>
          <a:sy n="90" d="100"/>
        </p:scale>
        <p:origin x="-576" y="-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3154" y="38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DB80D-D8DC-40C9-8603-2D92EB853E85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2EF51-F63D-488E-9B3C-4A470AE4E6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125AD38-0796-B4A0-F437-8C37B4D1B9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67608" y="592088"/>
            <a:ext cx="7609140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1481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xmlns="" id="{C8CBE8F9-096B-48BD-AF91-C68E84B4AE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5658687-0CEA-4055-A28D-6A7B0ACD688F}" type="datetime1">
              <a:rPr lang="en-IN" smtClean="0"/>
              <a:pPr/>
              <a:t>29-07-2025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xmlns="" id="{9B80BD04-4FB9-48ED-8F04-82E1E9B47D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DL&amp;CO                                                                G.LAVARAJU, Associate Professor, CSE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A51A2048-2A34-7FBF-43D5-D3D3725F2A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xmlns="" id="{504257EF-5910-55BD-B426-CB8A9D6AA2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74776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69367759-B4C6-4477-29E7-48E08870C8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2">
            <a:extLst>
              <a:ext uri="{FF2B5EF4-FFF2-40B4-BE49-F238E27FC236}">
                <a16:creationId xmlns:a16="http://schemas.microsoft.com/office/drawing/2014/main" xmlns="" id="{DBBF301A-453A-BED0-C53C-37286AA00C5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57A8F95D-D342-423C-90A4-62AE2284CCBC}" type="datetime1">
              <a:rPr lang="en-IN" smtClean="0"/>
              <a:pPr/>
              <a:t>29-07-2025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xmlns="" id="{1BBB8F58-91C5-AB5A-807E-19452F6556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DL&amp;CO                                                                G.LAVARAJU, Associate Professor, CSE</a:t>
            </a:r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xmlns="" id="{119C11AA-4309-9F6B-48A3-24FE199327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48079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FC2A9-ECCF-44DF-970F-75D2FCB69DF9}" type="datetime1">
              <a:rPr lang="en-IN" smtClean="0"/>
              <a:pPr/>
              <a:t>29-07-2025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DL&amp;CO                                                                G.LAVARAJU, Associate Professor,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27235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9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055440" y="1700808"/>
            <a:ext cx="10696612" cy="19442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 defTabSz="914400">
              <a:lnSpc>
                <a:spcPct val="90000"/>
              </a:lnSpc>
              <a:spcBef>
                <a:spcPct val="0"/>
              </a:spcBef>
              <a:defRPr/>
            </a:pPr>
            <a:endParaRPr lang="en-US" sz="4000" dirty="0">
              <a:solidFill>
                <a:srgbClr val="00B050"/>
              </a:solidFill>
              <a:latin typeface="Arial Rounded MT Bold" panose="020F0704030504030204" pitchFamily="34" charset="0"/>
              <a:ea typeface="Source Sans Pro" panose="020B0503030403020204" pitchFamily="34" charset="0"/>
              <a:cs typeface="+mj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AC1FE6A4-FF5D-D94C-A68D-4F58E521FA13}"/>
              </a:ext>
            </a:extLst>
          </p:cNvPr>
          <p:cNvSpPr txBox="1">
            <a:spLocks/>
          </p:cNvSpPr>
          <p:nvPr/>
        </p:nvSpPr>
        <p:spPr>
          <a:xfrm>
            <a:off x="1127448" y="1761964"/>
            <a:ext cx="10696612" cy="9361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4000" dirty="0">
                <a:solidFill>
                  <a:srgbClr val="0000FF"/>
                </a:solidFill>
                <a:latin typeface="Abadi" panose="020B0604020104020204" pitchFamily="34" charset="0"/>
                <a:ea typeface="+mj-ea"/>
                <a:cs typeface="+mj-cs"/>
              </a:rPr>
              <a:t>Summer Internship – Mid-Term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399" y="3778188"/>
            <a:ext cx="5688632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Presented by:</a:t>
            </a:r>
            <a:r>
              <a:rPr lang="en-US" dirty="0"/>
              <a:t>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23A91A4433  </a:t>
            </a:r>
            <a:r>
              <a:rPr lang="en-US" dirty="0"/>
              <a:t>- </a:t>
            </a:r>
            <a:r>
              <a:rPr lang="en-US" dirty="0" err="1" smtClean="0"/>
              <a:t>M.Hari</a:t>
            </a:r>
            <a:r>
              <a:rPr lang="en-US" dirty="0" smtClean="0"/>
              <a:t> - </a:t>
            </a:r>
            <a:r>
              <a:rPr lang="en-US" dirty="0"/>
              <a:t>Data Science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23A91A4434  </a:t>
            </a:r>
            <a:r>
              <a:rPr lang="en-US" dirty="0"/>
              <a:t>- </a:t>
            </a:r>
            <a:r>
              <a:rPr lang="en-US" dirty="0" err="1" smtClean="0"/>
              <a:t>M.Kalyan</a:t>
            </a:r>
            <a:r>
              <a:rPr lang="en-US" dirty="0" smtClean="0"/>
              <a:t> - </a:t>
            </a:r>
            <a:r>
              <a:rPr lang="en-US" dirty="0"/>
              <a:t>Data Science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23A91A4439  </a:t>
            </a:r>
            <a:r>
              <a:rPr lang="en-US" dirty="0"/>
              <a:t>-  </a:t>
            </a:r>
            <a:r>
              <a:rPr lang="en-US" dirty="0" err="1" smtClean="0"/>
              <a:t>M.V.Sai</a:t>
            </a:r>
            <a:r>
              <a:rPr lang="en-US" dirty="0" smtClean="0"/>
              <a:t> Krishna   </a:t>
            </a:r>
            <a:r>
              <a:rPr lang="en-US" dirty="0"/>
              <a:t>- Data Science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23A91A4453 </a:t>
            </a:r>
            <a:r>
              <a:rPr lang="en-US" dirty="0"/>
              <a:t>-  </a:t>
            </a:r>
            <a:r>
              <a:rPr lang="en-US" dirty="0" err="1" smtClean="0"/>
              <a:t>S.N.V.S.swami</a:t>
            </a:r>
            <a:r>
              <a:rPr lang="en-US" dirty="0" smtClean="0"/>
              <a:t>  </a:t>
            </a:r>
            <a:r>
              <a:rPr lang="en-US" dirty="0"/>
              <a:t>-  Data Science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24A95A4406- </a:t>
            </a:r>
            <a:r>
              <a:rPr lang="en-US" dirty="0" err="1" smtClean="0"/>
              <a:t>K.B.S.V.shanker</a:t>
            </a:r>
            <a:r>
              <a:rPr lang="en-US" dirty="0" smtClean="0"/>
              <a:t> – Data Science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AC1FE6A4-FF5D-D94C-A68D-4F58E521FA13}"/>
              </a:ext>
            </a:extLst>
          </p:cNvPr>
          <p:cNvSpPr txBox="1">
            <a:spLocks/>
          </p:cNvSpPr>
          <p:nvPr/>
        </p:nvSpPr>
        <p:spPr>
          <a:xfrm>
            <a:off x="1104891" y="2770076"/>
            <a:ext cx="10696612" cy="9361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4000" dirty="0" smtClean="0">
                <a:solidFill>
                  <a:srgbClr val="FF0000"/>
                </a:solidFill>
                <a:latin typeface="Abadi" panose="020B0604020104020204" pitchFamily="34" charset="0"/>
                <a:ea typeface="+mj-ea"/>
                <a:cs typeface="+mj-cs"/>
              </a:rPr>
              <a:t>FREE WORK</a:t>
            </a:r>
            <a:endParaRPr lang="en-US" sz="4000" dirty="0">
              <a:solidFill>
                <a:srgbClr val="FF0000"/>
              </a:solidFill>
              <a:latin typeface="Abadi" panose="020B0604020104020204" pitchFamily="34" charset="0"/>
              <a:ea typeface="+mj-ea"/>
              <a:cs typeface="+mj-cs"/>
            </a:endParaRPr>
          </a:p>
          <a:p>
            <a:pPr lvl="0"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2000" dirty="0">
                <a:solidFill>
                  <a:srgbClr val="FF0000"/>
                </a:solidFill>
                <a:latin typeface="Abadi" panose="020B0604020104020204" pitchFamily="34" charset="0"/>
                <a:ea typeface="+mj-ea"/>
                <a:cs typeface="+mj-cs"/>
              </a:rPr>
              <a:t> A </a:t>
            </a:r>
            <a:r>
              <a:rPr lang="en-US" sz="2000" dirty="0" smtClean="0">
                <a:solidFill>
                  <a:srgbClr val="FF0000"/>
                </a:solidFill>
                <a:latin typeface="Abadi" panose="020B0604020104020204" pitchFamily="34" charset="0"/>
                <a:ea typeface="+mj-ea"/>
                <a:cs typeface="+mj-cs"/>
              </a:rPr>
              <a:t>freelancer website</a:t>
            </a:r>
            <a:endParaRPr lang="en-US" sz="2000" dirty="0">
              <a:solidFill>
                <a:srgbClr val="FF0000"/>
              </a:solidFill>
              <a:latin typeface="Abadi" panose="020B0604020104020204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8707F56-B031-425D-AFF6-0F8C5C50F9BC}"/>
              </a:ext>
            </a:extLst>
          </p:cNvPr>
          <p:cNvSpPr txBox="1"/>
          <p:nvPr/>
        </p:nvSpPr>
        <p:spPr>
          <a:xfrm>
            <a:off x="695400" y="1142984"/>
            <a:ext cx="10513168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r>
              <a:rPr lang="en-US" sz="2800" dirty="0" smtClean="0"/>
              <a:t>In many regions, individuals and small businesses require offline services such as plumbing, electrical repairs, carpentry, event management, tutoring, and other hands-on jobs. However, there is a significant gap in connecting skilled offline workers (freelancers) with local clients who need their services. Existing platforms primarily focus on online freelancing or are not tailored to local, in-person job requirements, making it difficult for clients to find trustworthy, nearby professionals efficiently.</a:t>
            </a:r>
          </a:p>
          <a:p>
            <a:r>
              <a:rPr lang="en-US" sz="2800" dirty="0" smtClean="0"/>
              <a:t>This lack of a centralized, reliable platform for offline freelance work leads to lost opportunities for skilled workers and frustration for clients due to inconsistent service quality, poor communication, or lack of verified professionals.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1064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AC5058A-D0F9-5244-F974-E6BDFD868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B6E5C49-9A29-ECF7-07A5-1FCA56C6FA8D}"/>
              </a:ext>
            </a:extLst>
          </p:cNvPr>
          <p:cNvSpPr txBox="1"/>
          <p:nvPr/>
        </p:nvSpPr>
        <p:spPr>
          <a:xfrm>
            <a:off x="659396" y="980728"/>
            <a:ext cx="10873208" cy="6078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&amp; Scope:</a:t>
            </a:r>
          </a:p>
          <a:p>
            <a:pPr lvl="1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objective of this project is to develop a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canteen food delivery system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that improves the food ordering experience for both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a college environment.</a:t>
            </a:r>
          </a:p>
          <a:p>
            <a:pPr lvl="1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Objectives:</a:t>
            </a:r>
          </a:p>
          <a:p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/>
              <a:t>Local Service Booking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Enable users to find and book nearby offline freelancers for various hands-on tasks through a simple and user-friendly web application.</a:t>
            </a:r>
          </a:p>
          <a:p>
            <a:r>
              <a:rPr lang="en-US" sz="2800" b="1" dirty="0" smtClean="0"/>
              <a:t>Skill-Based Search &amp; Categories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Allow clients to browse professionals by service categories (e.g., home repair, tutoring, event work) and filter by location, availability, or ratings.</a:t>
            </a:r>
          </a:p>
          <a:p>
            <a:r>
              <a:rPr lang="en-US" sz="2800" b="1" dirty="0" smtClean="0"/>
              <a:t>Verified Freelancer Profiles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Ensure service quality and trust by allowing freelancers to create verified profiles with ID proof, skill certifications, and user reviews.</a:t>
            </a:r>
          </a:p>
          <a:p>
            <a:endParaRPr lang="en-US" sz="28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29650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6778" y="1071546"/>
            <a:ext cx="892975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Efficient Job Matching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Match clients with relevant freelancers based on location, service type, and availability — reducing time and effort in finding the right person.</a:t>
            </a:r>
          </a:p>
          <a:p>
            <a:r>
              <a:rPr lang="en-US" b="1" dirty="0" smtClean="0"/>
              <a:t>Real-Time Communication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Provide chat or messaging features for direct communication between clients and freelancers to discuss job details, pricing, and schedules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DE1B78E-27FC-B045-925E-4A1C206EDF3F}"/>
              </a:ext>
            </a:extLst>
          </p:cNvPr>
          <p:cNvSpPr txBox="1"/>
          <p:nvPr/>
        </p:nvSpPr>
        <p:spPr>
          <a:xfrm>
            <a:off x="767408" y="1412777"/>
            <a:ext cx="9649072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:</a:t>
            </a:r>
          </a:p>
          <a:p>
            <a:pPr>
              <a:buNone/>
            </a:pPr>
            <a:endParaRPr lang="en-US" b="1" dirty="0"/>
          </a:p>
          <a:p>
            <a:pPr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Scope:</a:t>
            </a:r>
          </a:p>
          <a:p>
            <a:pPr lvl="1">
              <a:buFont typeface="Arial" pitchFamily="34" charset="0"/>
              <a:buChar char="•"/>
            </a:pPr>
            <a:r>
              <a:rPr lang="en-US" b="1" dirty="0" smtClean="0"/>
              <a:t>User Registration and Login System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Secure </a:t>
            </a:r>
            <a:r>
              <a:rPr lang="en-US" dirty="0" smtClean="0"/>
              <a:t>sign-up and login for both clients and freelancers with role-based access.</a:t>
            </a:r>
          </a:p>
          <a:p>
            <a:pPr lvl="1">
              <a:buFont typeface="Arial" pitchFamily="34" charset="0"/>
              <a:buChar char="•"/>
            </a:pPr>
            <a:r>
              <a:rPr lang="en-US" b="1" dirty="0" smtClean="0"/>
              <a:t>Service Categories and Listings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Display </a:t>
            </a:r>
            <a:r>
              <a:rPr lang="en-US" dirty="0" smtClean="0"/>
              <a:t>various offline service categories with dynamic listings of freelancers.</a:t>
            </a:r>
          </a:p>
          <a:p>
            <a:pPr lvl="1">
              <a:buFont typeface="Arial" pitchFamily="34" charset="0"/>
              <a:buChar char="•"/>
            </a:pPr>
            <a:r>
              <a:rPr lang="en-US" b="1" dirty="0" smtClean="0"/>
              <a:t>Job Posting and Booking System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Clients </a:t>
            </a:r>
            <a:r>
              <a:rPr lang="en-US" dirty="0" smtClean="0"/>
              <a:t>can post job requirements, browse profiles, and book available freelancers.</a:t>
            </a:r>
          </a:p>
          <a:p>
            <a:pPr lvl="1">
              <a:buFont typeface="Arial" pitchFamily="34" charset="0"/>
              <a:buChar char="•"/>
            </a:pPr>
            <a:r>
              <a:rPr lang="en-US" b="1" dirty="0" smtClean="0"/>
              <a:t>Freelancer Profile Management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Freelancers </a:t>
            </a:r>
            <a:r>
              <a:rPr lang="en-US" dirty="0" smtClean="0"/>
              <a:t>can create and update their profiles with skills, experience, location, and availability.</a:t>
            </a:r>
          </a:p>
          <a:p>
            <a:pPr lvl="1">
              <a:buFont typeface="Arial" pitchFamily="34" charset="0"/>
              <a:buChar char="•"/>
            </a:pPr>
            <a:r>
              <a:rPr lang="en-US" b="1" dirty="0" smtClean="0"/>
              <a:t>Order Tracking and Status Updates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Real-time </a:t>
            </a:r>
            <a:r>
              <a:rPr lang="en-US" dirty="0" smtClean="0"/>
              <a:t>updates on booking status (e.g., pending, accepted, completed).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79860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6778" y="1142984"/>
            <a:ext cx="964413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Operational Scope:</a:t>
            </a:r>
          </a:p>
          <a:p>
            <a:r>
              <a:rPr lang="en-US" b="1" dirty="0" smtClean="0"/>
              <a:t>Local Deployment for Offline Services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Can be used in urban and semi-urban areas to connect local freelancers with nearby clients.</a:t>
            </a:r>
          </a:p>
          <a:p>
            <a:r>
              <a:rPr lang="en-US" b="1" dirty="0" smtClean="0"/>
              <a:t>Supports Multiple Concurrent Users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Scalable system that handles many clients and freelancers using the platform simultaneously.</a:t>
            </a:r>
          </a:p>
          <a:p>
            <a:r>
              <a:rPr lang="en-US" b="1" dirty="0" smtClean="0"/>
              <a:t>Reduces Manual Coordination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Automates the process of finding, scheduling, and confirming offline work — reducing calls, miscommunication, and delays.</a:t>
            </a:r>
          </a:p>
          <a:p>
            <a:r>
              <a:rPr lang="en-US" b="1" dirty="0" smtClean="0"/>
              <a:t>Improves Job Opportunities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Helps skilled freelancers gain visibility and access more local work opportunities efficiently.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F61373A-1C6B-0A33-C980-E20A0B4FE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7DFF05F-F419-3EC0-D9B8-1285A201D9EE}"/>
              </a:ext>
            </a:extLst>
          </p:cNvPr>
          <p:cNvSpPr txBox="1"/>
          <p:nvPr/>
        </p:nvSpPr>
        <p:spPr>
          <a:xfrm>
            <a:off x="695400" y="1651590"/>
            <a:ext cx="10153128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Tools Used: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Front-end     		   	: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JS,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Back-end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		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JS , Express JS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		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Atlas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: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JWT(JavaScript Web Token) ,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messaging      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 Socket.io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Tools 			: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 (for API testing)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 	: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</a:t>
            </a:r>
          </a:p>
          <a:p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25801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63C3687-5563-C530-768E-C56A377BE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F4C236A-4B7F-4926-01A4-5C7E0887DA36}"/>
              </a:ext>
            </a:extLst>
          </p:cNvPr>
          <p:cNvSpPr txBox="1"/>
          <p:nvPr/>
        </p:nvSpPr>
        <p:spPr>
          <a:xfrm>
            <a:off x="695400" y="1412776"/>
            <a:ext cx="9721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Made (Milestones Achieved)  -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Execution Demonstration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131360A8-F9B0-340D-4C67-066885532F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33" b="2194"/>
          <a:stretch>
            <a:fillRect/>
          </a:stretch>
        </p:blipFill>
        <p:spPr>
          <a:xfrm>
            <a:off x="407368" y="1988840"/>
            <a:ext cx="11089232" cy="4680520"/>
          </a:xfrm>
          <a:prstGeom prst="rect">
            <a:avLst/>
          </a:prstGeom>
        </p:spPr>
      </p:pic>
      <p:pic>
        <p:nvPicPr>
          <p:cNvPr id="7" name="Picture 6" descr="WhatsApp Image 2025-07-29 at 9.49.30 A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10" y="1951102"/>
            <a:ext cx="11099040" cy="46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51347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6CA2991-3B4F-641B-760E-7F31566BF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009" y="1052736"/>
            <a:ext cx="9822309" cy="552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57567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FE532BB-66C8-ABC4-05F7-4ED42E751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610" y="1340768"/>
            <a:ext cx="8886851" cy="499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21911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FBF74D4B-8922-5C47-4CE3-8CE97244E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991" y="1412776"/>
            <a:ext cx="8137313" cy="457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79007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641FE58-DE61-DBB7-F135-96C0983A7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327" y="1340768"/>
            <a:ext cx="8091185" cy="455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7760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1F0D915-57D9-E485-0B37-809BD709C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121" y="1124744"/>
            <a:ext cx="9725774" cy="547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58310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64BA2D8-E742-9E85-9A27-8E4FFAF9A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136" y="1052736"/>
            <a:ext cx="9807728" cy="551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82718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2C763608-7385-1709-7962-DB9B1505D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490" y="1052736"/>
            <a:ext cx="9473052" cy="532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35145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00FFDC9-7E48-98D1-A5B4-DD6781F94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111" y="1052736"/>
            <a:ext cx="9981802" cy="561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98876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8CD2E0E-3FD7-2C9D-9DB2-4F68D4B68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106" y="1124744"/>
            <a:ext cx="9853788" cy="554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305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D6564B0-5F12-15E6-5135-D6908CFB9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473" y="1052736"/>
            <a:ext cx="9345038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348784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B2A0C08-94CA-748A-B824-99B5CC1B9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06882AF-7E13-11AC-3B8E-77350471B2B9}"/>
              </a:ext>
            </a:extLst>
          </p:cNvPr>
          <p:cNvSpPr txBox="1"/>
          <p:nvPr/>
        </p:nvSpPr>
        <p:spPr>
          <a:xfrm>
            <a:off x="695400" y="1412776"/>
            <a:ext cx="9721080" cy="5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b="1" dirty="0" smtClean="0"/>
              <a:t>API Communication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Ensuring smooth and consistent data exchange between frontend and backend using REST APIs was a key challenge, especially when handling real-time job updates and user actions.</a:t>
            </a:r>
          </a:p>
          <a:p>
            <a:r>
              <a:rPr lang="en-US" sz="2400" b="1" dirty="0" smtClean="0"/>
              <a:t>Job Status Management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Managing real-time updates for different job statuses such as "Pending", "Accepted", "Completed", and "Cancelled" required precise synchronization between the client-side UI and backend logic.</a:t>
            </a:r>
          </a:p>
          <a:p>
            <a:r>
              <a:rPr lang="en-US" sz="2400" b="1" dirty="0" smtClean="0"/>
              <a:t>Responsive UI Design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Creating a clean and user-friendly interface that works well across all screen sizes — from desktops to </a:t>
            </a:r>
            <a:r>
              <a:rPr lang="en-US" sz="2400" dirty="0" err="1" smtClean="0"/>
              <a:t>smartphones</a:t>
            </a:r>
            <a:r>
              <a:rPr lang="en-US" sz="2400" dirty="0" smtClean="0"/>
              <a:t> — involved multiple iterations and extensive cross-device testing.</a:t>
            </a:r>
          </a:p>
          <a:p>
            <a:r>
              <a:rPr lang="en-US" sz="2400" dirty="0" smtClean="0"/>
              <a:t>.</a:t>
            </a:r>
            <a:endParaRPr lang="en-US" sz="2400" dirty="0" smtClean="0"/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193175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23902" y="1214422"/>
            <a:ext cx="86439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Freelancer-Client Coordination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Implementing a seamless interaction flow between freelancers and clients, including messaging, job acceptance, and scheduling, required careful design of both frontend and backend systems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3452F82-C088-77DE-C4F7-1F780337D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AB81CD7-AFAC-634B-0553-2CEAF2AFCFA9}"/>
              </a:ext>
            </a:extLst>
          </p:cNvPr>
          <p:cNvSpPr txBox="1"/>
          <p:nvPr/>
        </p:nvSpPr>
        <p:spPr>
          <a:xfrm>
            <a:off x="983432" y="908720"/>
            <a:ext cx="972108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 (Action Plan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en-US" b="1" dirty="0" smtClean="0"/>
              <a:t>Week 1: Planning &amp; Initial Setup</a:t>
            </a:r>
          </a:p>
          <a:p>
            <a:r>
              <a:rPr lang="en-US" dirty="0" smtClean="0"/>
              <a:t>Finalized feature list and system requirements.</a:t>
            </a:r>
          </a:p>
          <a:p>
            <a:r>
              <a:rPr lang="en-US" dirty="0" smtClean="0"/>
              <a:t>Designed high-fidelity UI wireframes and page layouts.</a:t>
            </a:r>
          </a:p>
          <a:p>
            <a:r>
              <a:rPr lang="en-US" dirty="0" smtClean="0"/>
              <a:t>Set up the React.js project environment with </a:t>
            </a:r>
            <a:r>
              <a:rPr lang="en-US" dirty="0" err="1" smtClean="0"/>
              <a:t>ESLint</a:t>
            </a:r>
            <a:r>
              <a:rPr lang="en-US" dirty="0" smtClean="0"/>
              <a:t>, Prettier, and Tailwind CSS.</a:t>
            </a:r>
          </a:p>
          <a:p>
            <a:r>
              <a:rPr lang="en-US" dirty="0" smtClean="0"/>
              <a:t>Configured client-side routing using react-router-dom.</a:t>
            </a:r>
          </a:p>
          <a:p>
            <a:r>
              <a:rPr lang="en-US" dirty="0" smtClean="0"/>
              <a:t>Set up </a:t>
            </a:r>
            <a:r>
              <a:rPr lang="en-US" dirty="0" err="1" smtClean="0"/>
              <a:t>GitHub</a:t>
            </a:r>
            <a:r>
              <a:rPr lang="en-US" dirty="0" smtClean="0"/>
              <a:t> repo and development workflow with </a:t>
            </a:r>
            <a:r>
              <a:rPr lang="en-US" dirty="0" err="1" smtClean="0"/>
              <a:t>Git</a:t>
            </a:r>
            <a:r>
              <a:rPr lang="en-US" dirty="0" smtClean="0"/>
              <a:t> branches.</a:t>
            </a:r>
          </a:p>
          <a:p>
            <a:r>
              <a:rPr lang="en-US" b="1" dirty="0" smtClean="0"/>
              <a:t>Week 2: Backend Initialization &amp; Authentication</a:t>
            </a:r>
          </a:p>
          <a:p>
            <a:r>
              <a:rPr lang="en-US" dirty="0" smtClean="0"/>
              <a:t>Set up Express.js backend server with middleware structure.</a:t>
            </a:r>
          </a:p>
          <a:p>
            <a:r>
              <a:rPr lang="en-US" dirty="0" smtClean="0"/>
              <a:t>Connected </a:t>
            </a:r>
            <a:r>
              <a:rPr lang="en-US" dirty="0" err="1" smtClean="0"/>
              <a:t>MongoDB</a:t>
            </a:r>
            <a:r>
              <a:rPr lang="en-US" dirty="0" smtClean="0"/>
              <a:t> database using Mongoose.</a:t>
            </a:r>
          </a:p>
          <a:p>
            <a:r>
              <a:rPr lang="en-US" dirty="0" smtClean="0"/>
              <a:t>Created initial </a:t>
            </a:r>
            <a:r>
              <a:rPr lang="en-US" dirty="0" err="1" smtClean="0"/>
              <a:t>MongoDB</a:t>
            </a:r>
            <a:r>
              <a:rPr lang="en-US" dirty="0" smtClean="0"/>
              <a:t> schemas for:</a:t>
            </a:r>
          </a:p>
          <a:p>
            <a:pPr lvl="1"/>
            <a:r>
              <a:rPr lang="en-US" dirty="0" smtClean="0"/>
              <a:t>Users (freelancer, client)</a:t>
            </a:r>
          </a:p>
          <a:p>
            <a:pPr lvl="1"/>
            <a:r>
              <a:rPr lang="en-US" dirty="0" smtClean="0"/>
              <a:t>Projects / Orders</a:t>
            </a:r>
          </a:p>
          <a:p>
            <a:pPr lvl="1"/>
            <a:r>
              <a:rPr lang="en-US" dirty="0" smtClean="0"/>
              <a:t>Categories or Tags</a:t>
            </a:r>
          </a:p>
          <a:p>
            <a:r>
              <a:rPr lang="en-US" dirty="0" smtClean="0"/>
              <a:t>Implemented secure user signup &amp; login with JWT-based authentication.</a:t>
            </a:r>
          </a:p>
          <a:p>
            <a:r>
              <a:rPr lang="en-US" dirty="0" smtClean="0"/>
              <a:t>Integrated password hashing using </a:t>
            </a:r>
            <a:r>
              <a:rPr lang="en-US" dirty="0" err="1" smtClean="0"/>
              <a:t>bcrypt</a:t>
            </a:r>
            <a:r>
              <a:rPr lang="en-US" dirty="0" smtClean="0"/>
              <a:t>.</a:t>
            </a:r>
          </a:p>
          <a:p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626109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9588" y="889844"/>
            <a:ext cx="833441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Week 3: User Dashboard &amp; Profile Management</a:t>
            </a:r>
          </a:p>
          <a:p>
            <a:r>
              <a:rPr lang="en-US" dirty="0" smtClean="0"/>
              <a:t>Built freelancer and client dashboards with conditional rendering.</a:t>
            </a:r>
          </a:p>
          <a:p>
            <a:r>
              <a:rPr lang="en-US" dirty="0" smtClean="0"/>
              <a:t>Added forms for editing user profile info and uploading profile pictures.</a:t>
            </a:r>
          </a:p>
          <a:p>
            <a:r>
              <a:rPr lang="en-US" dirty="0" smtClean="0"/>
              <a:t>Developed backend routes for updating and retrieving user profiles.</a:t>
            </a:r>
          </a:p>
          <a:p>
            <a:r>
              <a:rPr lang="en-US" dirty="0" smtClean="0"/>
              <a:t>Introduced protected routes in the frontend using JWT tokens and context/state.</a:t>
            </a:r>
          </a:p>
          <a:p>
            <a:r>
              <a:rPr lang="en-US" b="1" dirty="0" smtClean="0"/>
              <a:t>Week 4: Project Posting &amp; Browsing</a:t>
            </a:r>
          </a:p>
          <a:p>
            <a:r>
              <a:rPr lang="en-US" dirty="0" smtClean="0"/>
              <a:t>Created UI components for clients to post new freelance projects.</a:t>
            </a:r>
          </a:p>
          <a:p>
            <a:r>
              <a:rPr lang="en-US" dirty="0" smtClean="0"/>
              <a:t>Built browsing interface for freelancers to explore available projects.</a:t>
            </a:r>
          </a:p>
          <a:p>
            <a:r>
              <a:rPr lang="en-US" dirty="0" smtClean="0"/>
              <a:t>Added filtering/sorting features (by category, budget, etc.).</a:t>
            </a:r>
          </a:p>
          <a:p>
            <a:r>
              <a:rPr lang="en-US" dirty="0" smtClean="0"/>
              <a:t>Developed backend APIs for posting, updating, and listing jobs.</a:t>
            </a:r>
          </a:p>
          <a:p>
            <a:r>
              <a:rPr lang="en-US" dirty="0" smtClean="0"/>
              <a:t>Linked jobs to user accounts (client → posted, freelancer → applied).</a:t>
            </a:r>
            <a:endParaRPr lang="en-US" dirty="0" smtClean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0CD49A9-CA7C-9860-D4F8-7C381B07D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980B34E-C873-4BBC-69E4-36C8B2E0BD05}"/>
              </a:ext>
            </a:extLst>
          </p:cNvPr>
          <p:cNvSpPr txBox="1"/>
          <p:nvPr/>
        </p:nvSpPr>
        <p:spPr>
          <a:xfrm>
            <a:off x="695400" y="1412776"/>
            <a:ext cx="972108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 / Support Required if any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/>
              <a:t>Real-time Message Integration</a:t>
            </a:r>
          </a:p>
          <a:p>
            <a:r>
              <a:rPr lang="en-US" sz="2400" dirty="0" smtClean="0"/>
              <a:t>How to implement </a:t>
            </a:r>
            <a:r>
              <a:rPr lang="en-US" sz="2400" b="1" dirty="0" smtClean="0"/>
              <a:t>real-time chat or notifications</a:t>
            </a:r>
            <a:r>
              <a:rPr lang="en-US" sz="2400" dirty="0" smtClean="0"/>
              <a:t> when the app is offline and sync later when online?</a:t>
            </a:r>
          </a:p>
          <a:p>
            <a:r>
              <a:rPr lang="en-US" sz="2400" dirty="0" smtClean="0"/>
              <a:t>Best ways to use </a:t>
            </a:r>
            <a:r>
              <a:rPr lang="en-US" sz="2400" b="1" dirty="0" smtClean="0"/>
              <a:t>Socket.IO or alternatives</a:t>
            </a:r>
            <a:r>
              <a:rPr lang="en-US" sz="2400" dirty="0" smtClean="0"/>
              <a:t> for seamless offline-online transition?</a:t>
            </a:r>
          </a:p>
          <a:p>
            <a:r>
              <a:rPr lang="en-US" sz="2400" dirty="0" smtClean="0"/>
              <a:t>Handling message queues or local storage for messages created offline before sending them to the server.</a:t>
            </a:r>
          </a:p>
          <a:p>
            <a:r>
              <a:rPr lang="en-US" sz="2400" b="1" dirty="0" smtClean="0"/>
              <a:t>2. Data Access &amp; Sync</a:t>
            </a:r>
          </a:p>
          <a:p>
            <a:r>
              <a:rPr lang="en-US" sz="2400" dirty="0" smtClean="0"/>
              <a:t>Strategies to allow </a:t>
            </a:r>
            <a:r>
              <a:rPr lang="en-US" sz="2400" b="1" dirty="0" smtClean="0"/>
              <a:t>offline access to user profiles, projects, proposals</a:t>
            </a:r>
            <a:r>
              <a:rPr lang="en-US" sz="2400" dirty="0" smtClean="0"/>
              <a:t>, etc.</a:t>
            </a:r>
          </a:p>
          <a:p>
            <a:r>
              <a:rPr lang="en-US" sz="2400" dirty="0" smtClean="0"/>
              <a:t>How to sync updates (new jobs, messages, payments) when the user comes online?</a:t>
            </a:r>
          </a:p>
          <a:p>
            <a:r>
              <a:rPr lang="en-US" sz="2400" dirty="0" smtClean="0"/>
              <a:t>Conflict resolution when data is updated offline and online simultaneously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xmlns="" val="1755130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0960" y="1305342"/>
            <a:ext cx="1035851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3. Testing &amp; Feedback</a:t>
            </a:r>
          </a:p>
          <a:p>
            <a:r>
              <a:rPr lang="en-US" dirty="0" smtClean="0"/>
              <a:t>How to simulate offline scenarios for testing your app’s reliability?</a:t>
            </a:r>
          </a:p>
          <a:p>
            <a:r>
              <a:rPr lang="en-US" dirty="0" smtClean="0"/>
              <a:t>Tools or methodologies to get real-time feedback from users while offline.</a:t>
            </a:r>
          </a:p>
          <a:p>
            <a:r>
              <a:rPr lang="en-US" dirty="0" smtClean="0"/>
              <a:t>Setting up beta testing groups with controlled network conditions.</a:t>
            </a:r>
          </a:p>
          <a:p>
            <a:r>
              <a:rPr lang="en-US" b="1" dirty="0" smtClean="0"/>
              <a:t>4. Security &amp; Maintenance</a:t>
            </a:r>
          </a:p>
          <a:p>
            <a:r>
              <a:rPr lang="en-US" dirty="0" smtClean="0"/>
              <a:t>Securing local data storage on users’ devices (e.g., encryption for cached data).</a:t>
            </a:r>
          </a:p>
          <a:p>
            <a:r>
              <a:rPr lang="en-US" dirty="0" smtClean="0"/>
              <a:t>Secure handling of login tokens and session data in offline mode.</a:t>
            </a:r>
          </a:p>
          <a:p>
            <a:r>
              <a:rPr lang="en-US" dirty="0" smtClean="0"/>
              <a:t>Best practices for protecting APIs when syncing data after offline use.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64E0D2C-4F75-E12A-9CB5-CE0C81013228}"/>
              </a:ext>
            </a:extLst>
          </p:cNvPr>
          <p:cNvSpPr txBox="1"/>
          <p:nvPr/>
        </p:nvSpPr>
        <p:spPr>
          <a:xfrm>
            <a:off x="3431704" y="2492896"/>
            <a:ext cx="62188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xmlns="" val="2384267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8138</TotalTime>
  <Words>679</Words>
  <Application>Microsoft Office PowerPoint</Application>
  <PresentationFormat>Custom</PresentationFormat>
  <Paragraphs>98</Paragraphs>
  <Slides>25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Aditya</cp:lastModifiedBy>
  <cp:revision>886</cp:revision>
  <cp:lastPrinted>2025-03-17T06:44:57Z</cp:lastPrinted>
  <dcterms:created xsi:type="dcterms:W3CDTF">2019-12-14T03:50:52Z</dcterms:created>
  <dcterms:modified xsi:type="dcterms:W3CDTF">2025-07-29T05:09:57Z</dcterms:modified>
</cp:coreProperties>
</file>